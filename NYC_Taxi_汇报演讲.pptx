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 Volume (Millions)</c:v>
                </c:pt>
              </c:strCache>
            </c:strRef>
          </c:tx>
          <c:spPr>
            <a:solidFill>
              <a:srgbClr val="00B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B0C4D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9.12</c:v>
                </c:pt>
                <c:pt idx="1">
                  <c:v>8.95</c:v>
                </c:pt>
                <c:pt idx="2">
                  <c:v>9.95</c:v>
                </c:pt>
                <c:pt idx="3">
                  <c:v>9.72</c:v>
                </c:pt>
                <c:pt idx="4">
                  <c:v>9.58</c:v>
                </c:pt>
                <c:pt idx="5">
                  <c:v>9.31</c:v>
                </c:pt>
                <c:pt idx="6">
                  <c:v>8.68</c:v>
                </c:pt>
                <c:pt idx="7">
                  <c:v>8.22</c:v>
                </c:pt>
                <c:pt idx="8">
                  <c:v>9.15</c:v>
                </c:pt>
                <c:pt idx="9">
                  <c:v>9.38</c:v>
                </c:pt>
                <c:pt idx="10">
                  <c:v>9.02</c:v>
                </c:pt>
                <c:pt idx="11">
                  <c:v>8.87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B0C4D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7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35"/>
        </a:solidFill>
        <a:ln>
          <a:noFill/>
        </a:ln>
        <a:effectLst/>
      </c:spPr>
    </c:plotArea>
    <c:plotVisOnly val="1"/>
    <c:dispBlanksAs val="span"/>
  </c:chart>
  <c:spPr>
    <a:solidFill>
      <a:srgbClr val="0F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 Volume</c:v>
                </c:pt>
              </c:strCache>
            </c:strRef>
          </c:tx>
          <c:spPr>
            <a:solidFill>
              <a:srgbClr val="00E5FF"/>
            </a:solidFill>
            <a:ln w="31750" cap="flat">
              <a:solidFill>
                <a:srgbClr val="00E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0:00</c:v>
                  </c:pt>
                  <c:pt idx="1">
                    <c:v>1:00</c:v>
                  </c:pt>
                  <c:pt idx="2">
                    <c:v>2:00</c:v>
                  </c:pt>
                  <c:pt idx="3">
                    <c:v>3:00</c:v>
                  </c:pt>
                  <c:pt idx="4">
                    <c:v>4:00</c:v>
                  </c:pt>
                  <c:pt idx="5">
                    <c:v>5:00</c:v>
                  </c:pt>
                  <c:pt idx="6">
                    <c:v>6:00</c:v>
                  </c:pt>
                  <c:pt idx="7">
                    <c:v>7:00</c:v>
                  </c:pt>
                  <c:pt idx="8">
                    <c:v>8:00</c:v>
                  </c:pt>
                  <c:pt idx="9">
                    <c:v>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8.2</c:v>
                </c:pt>
                <c:pt idx="1">
                  <c:v>5.1</c:v>
                </c:pt>
                <c:pt idx="2">
                  <c:v>3.5</c:v>
                </c:pt>
                <c:pt idx="3">
                  <c:v>2.8</c:v>
                </c:pt>
                <c:pt idx="4">
                  <c:v>2.5</c:v>
                </c:pt>
                <c:pt idx="5">
                  <c:v>3.8</c:v>
                </c:pt>
                <c:pt idx="6">
                  <c:v>7.5</c:v>
                </c:pt>
                <c:pt idx="7">
                  <c:v>12.8</c:v>
                </c:pt>
                <c:pt idx="8">
                  <c:v>10.5</c:v>
                </c:pt>
                <c:pt idx="9">
                  <c:v>8.2</c:v>
                </c:pt>
                <c:pt idx="10">
                  <c:v>7.8</c:v>
                </c:pt>
                <c:pt idx="11">
                  <c:v>8.5</c:v>
                </c:pt>
                <c:pt idx="12">
                  <c:v>9.2</c:v>
                </c:pt>
                <c:pt idx="13">
                  <c:v>8.8</c:v>
                </c:pt>
                <c:pt idx="14">
                  <c:v>8.5</c:v>
                </c:pt>
                <c:pt idx="15">
                  <c:v>9</c:v>
                </c:pt>
                <c:pt idx="16">
                  <c:v>10.2</c:v>
                </c:pt>
                <c:pt idx="17">
                  <c:v>13.5</c:v>
                </c:pt>
                <c:pt idx="18">
                  <c:v>12</c:v>
                </c:pt>
                <c:pt idx="19">
                  <c:v>9.8</c:v>
                </c:pt>
                <c:pt idx="20">
                  <c:v>8.5</c:v>
                </c:pt>
                <c:pt idx="21">
                  <c:v>7.2</c:v>
                </c:pt>
                <c:pt idx="22">
                  <c:v>5.8</c:v>
                </c:pt>
                <c:pt idx="23">
                  <c:v>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7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35"/>
        </a:solidFill>
        <a:ln>
          <a:noFill/>
        </a:ln>
        <a:effectLst/>
      </c:spPr>
    </c:plotArea>
    <c:plotVisOnly val="1"/>
    <c:dispBlanksAs val="span"/>
  </c:chart>
  <c:spPr>
    <a:solidFill>
      <a:srgbClr val="0F20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5FF"/>
              </a:solidFill>
              <a:effectLst/>
            </c:spPr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bubble3D val="0"/>
            <c:spPr>
              <a:solidFill>
                <a:srgbClr val="5A7A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Credit Card</c:v>
                </c:pt>
                <c:pt idx="1">
                  <c:v>Cash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67.2</c:v>
                </c:pt>
                <c:pt idx="1">
                  <c:v>28.5</c:v>
                </c:pt>
                <c:pt idx="2">
                  <c:v>4.3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C4D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097280"/>
            <a:ext cx="36576" cy="2926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York City Taxi Data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Taxi Data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2018 Annual Trip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182880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3291840"/>
            <a:ext cx="9144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0" y="3840480"/>
            <a:ext cx="73152" cy="73152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3840480"/>
            <a:ext cx="73152" cy="73152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3840480"/>
            <a:ext cx="73152" cy="7315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3840480"/>
            <a:ext cx="73152" cy="73152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3840480"/>
            <a:ext cx="73152" cy="73152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11480" cy="4114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trips, average fare, distance &amp; duration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554480"/>
            <a:ext cx="7498080" cy="4572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673352"/>
            <a:ext cx="411480" cy="4114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655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Trends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01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and peak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2176272"/>
            <a:ext cx="7498080" cy="4572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295144"/>
            <a:ext cx="411480" cy="4114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Hourly Distribution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523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trip volume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2798064"/>
            <a:ext cx="7498080" cy="4572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145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weather conditions affect ridership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7280" y="3419856"/>
            <a:ext cx="7498080" cy="4572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538728"/>
            <a:ext cx="411480" cy="4114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Analysis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 &amp; hotspot distribution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" y="4041648"/>
            <a:ext cx="7498080" cy="4572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Fare &amp; Payment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distance &amp; payment analysis</a:t>
            </a:r>
            <a:endParaRPr lang="en-US" sz="11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54530" cy="1463040"/>
          </a:xfrm>
          <a:prstGeom prst="rect">
            <a:avLst>
              <a:gd name="adj" fmla="val 5000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107.8M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71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8890" y="1097280"/>
            <a:ext cx="1954530" cy="1463040"/>
          </a:xfrm>
          <a:prstGeom prst="rect">
            <a:avLst>
              <a:gd name="adj" fmla="val 5000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40330" y="12344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40330" y="1920240"/>
            <a:ext cx="1771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0580" y="1097280"/>
            <a:ext cx="1954530" cy="1463040"/>
          </a:xfrm>
          <a:prstGeom prst="rect">
            <a:avLst>
              <a:gd name="adj" fmla="val 5000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2020" y="12344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2.88 mi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32020" y="1920240"/>
            <a:ext cx="1771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Distance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32270" y="1097280"/>
            <a:ext cx="1954530" cy="1463040"/>
          </a:xfrm>
          <a:prstGeom prst="rect">
            <a:avLst>
              <a:gd name="adj" fmla="val 5000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23710" y="1234440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 min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23710" y="1920240"/>
            <a:ext cx="1771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Duration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Type Distribution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200400" cy="1005840"/>
          </a:xfrm>
          <a:prstGeom prst="rect">
            <a:avLst>
              <a:gd name="adj" fmla="val 727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83280"/>
            <a:ext cx="73152" cy="731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 Taxi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92.3%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28600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99.5M trips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0" y="3246120"/>
            <a:ext cx="3200400" cy="1005840"/>
          </a:xfrm>
          <a:prstGeom prst="rect">
            <a:avLst>
              <a:gd name="adj" fmla="val 727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69080" y="3383280"/>
            <a:ext cx="73152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Taxi (Boro Taxi)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7.7%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76072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8.3M trips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5156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Trends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7920" y="1051560"/>
            <a:ext cx="2468880" cy="1371600"/>
          </a:xfrm>
          <a:prstGeom prst="rect">
            <a:avLst>
              <a:gd name="adj" fmla="val 533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550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508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3550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9.95M trips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606040"/>
            <a:ext cx="2468880" cy="1371600"/>
          </a:xfrm>
          <a:prstGeom prst="rect">
            <a:avLst>
              <a:gd name="adj" fmla="val 533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5508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8.22M trips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peak, summer trough pattern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peak: tourism + business travel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low: vacation season exodus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5156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24-Hour Distribution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7920" y="1051560"/>
            <a:ext cx="2468880" cy="1097280"/>
          </a:xfrm>
          <a:prstGeom prst="rect">
            <a:avLst>
              <a:gd name="adj" fmla="val 666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55080" y="1124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Peak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8:00 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550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12.8K trips/hour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331720"/>
            <a:ext cx="2468880" cy="1097280"/>
          </a:xfrm>
          <a:prstGeom prst="rect">
            <a:avLst>
              <a:gd name="adj" fmla="val 666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2404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Peak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6:00 PM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5508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17.8K trips/hour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pattern: commute-driven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peak is 1.39x AM peak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night: 2.5K-5.8K trips/hour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2011680"/>
          </a:xfrm>
          <a:prstGeom prst="rect">
            <a:avLst>
              <a:gd name="adj" fmla="val 3636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25880"/>
            <a:ext cx="640080" cy="6400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/ Sunny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06040" cy="2011680"/>
          </a:xfrm>
          <a:prstGeom prst="rect">
            <a:avLst>
              <a:gd name="adj" fmla="val 3636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1325880"/>
            <a:ext cx="640080" cy="6400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Rainy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292K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-1.7%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06040" cy="2011680"/>
          </a:xfrm>
          <a:prstGeom prst="rect">
            <a:avLst>
              <a:gd name="adj" fmla="val 3636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152A42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-17.4%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has minimal impact on taxi usage (-1.7%), suggesting NYC commuters rely on taxis regardless of light rain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significantly reduces ridership (-17.4%), as people stay home or switch to subway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resilience is a key characteristic of NYC taxi demand</a:t>
            </a:r>
            <a:endParaRPr lang="en-US" sz="13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Analysis - Borough Distribution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143000"/>
            <a:ext cx="4572000" cy="27432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143000"/>
            <a:ext cx="4572000" cy="2743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86.7%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783080"/>
            <a:ext cx="4572000" cy="27432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1783080"/>
            <a:ext cx="411322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7.8%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2423160"/>
            <a:ext cx="4572000" cy="27432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2423160"/>
            <a:ext cx="168747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3063240"/>
            <a:ext cx="4572000" cy="27432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3063240"/>
            <a:ext cx="79100" cy="27432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A7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Island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20240" y="3703320"/>
            <a:ext cx="4572000" cy="27432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3703320"/>
            <a:ext cx="42187" cy="27432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A7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dominates with 86.7% of all pickups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at 7.8% driven by airport trips (JFK/LGA)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boroughs combined: 13.3% of total volume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Pickup Hotspots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Trips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East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Midtown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Square/Theater 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West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 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zones are in Manhattan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zones account for 23.7% of all trips combined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areas (Upper East/West) generate more trips than commercial zones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Fare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1828800"/>
          </a:xfrm>
          <a:prstGeom prst="rect">
            <a:avLst>
              <a:gd name="adj" fmla="val 4000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 Taxi Fare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$8.32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 / P75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$7.00 / $15.50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3840480" cy="1828800"/>
          </a:xfrm>
          <a:prstGeom prst="rect">
            <a:avLst>
              <a:gd name="adj" fmla="val 4000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Taxi Fare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$13.29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 / P75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$7.50 / $17.00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Method Comparison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3840480" cy="1005840"/>
          </a:xfrm>
          <a:prstGeom prst="rect">
            <a:avLst>
              <a:gd name="adj" fmla="val 727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$12.91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4688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474720"/>
            <a:ext cx="3840480" cy="1005840"/>
          </a:xfrm>
          <a:prstGeom prst="rect">
            <a:avLst>
              <a:gd name="adj" fmla="val 727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$11.67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836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0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Distribution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54530" cy="1097280"/>
          </a:xfrm>
          <a:prstGeom prst="rect">
            <a:avLst>
              <a:gd name="adj" fmla="val 666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2.99 mi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8890" y="1097280"/>
            <a:ext cx="1954530" cy="1097280"/>
          </a:xfrm>
          <a:prstGeom prst="rect">
            <a:avLst>
              <a:gd name="adj" fmla="val 666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40330" y="11887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1.76 mi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40330" y="17373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097280"/>
            <a:ext cx="1954530" cy="1097280"/>
          </a:xfrm>
          <a:prstGeom prst="rect">
            <a:avLst>
              <a:gd name="adj" fmla="val 666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2020" y="11887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3.42 mi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32020" y="17373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32270" y="1097280"/>
            <a:ext cx="1954530" cy="1097280"/>
          </a:xfrm>
          <a:prstGeom prst="rect">
            <a:avLst>
              <a:gd name="adj" fmla="val 666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23710" y="11887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C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 mi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23710" y="17373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Characteristics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1645920"/>
          </a:xfrm>
          <a:prstGeom prst="rect">
            <a:avLst>
              <a:gd name="adj" fmla="val 4444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971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right-skewed distribution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(2.99 mi) &gt;&gt; Median (1.76 mi): indicates long-tail of longer trips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trips are under 1.76 miles - mostly intra-Manhattan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of trips exceed 10.5 miles - airport and outer borough routes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(3.42 mi) exceeds the mean, confirming high variability</a:t>
            </a:r>
            <a:endParaRPr lang="en-US" sz="13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00584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Method Analysis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931920" cy="1051560"/>
          </a:xfrm>
          <a:prstGeom prst="rect">
            <a:avLst>
              <a:gd name="adj" fmla="val 695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64608" y="1115568"/>
            <a:ext cx="54864" cy="8229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1078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67.2%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7492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749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payment method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2240280"/>
            <a:ext cx="3931920" cy="1051560"/>
          </a:xfrm>
          <a:prstGeom prst="rect">
            <a:avLst>
              <a:gd name="adj" fmla="val 695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64608" y="2350008"/>
            <a:ext cx="54864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2313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28.5%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7492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7492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trend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3474720"/>
            <a:ext cx="3931920" cy="1051560"/>
          </a:xfrm>
          <a:prstGeom prst="rect">
            <a:avLst>
              <a:gd name="adj" fmla="val 6957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64608" y="3584448"/>
            <a:ext cx="54864" cy="82296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A7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98080" y="3547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07492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7492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+ disputes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Segmentation - Cluster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54530" cy="2926080"/>
          </a:xfrm>
          <a:prstGeom prst="rect">
            <a:avLst>
              <a:gd name="adj" fmla="val 374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195453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Economy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distance, low fare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1.2mi / $8.50 / 8min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588770" cy="13716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17520"/>
            <a:ext cx="1588770" cy="1371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548890" y="1097280"/>
            <a:ext cx="1954530" cy="2926080"/>
          </a:xfrm>
          <a:prstGeom prst="rect">
            <a:avLst>
              <a:gd name="adj" fmla="val 374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8890" y="1097280"/>
            <a:ext cx="195453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2640330" y="128016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Mid-Range 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40330" y="16459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27.6%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640330" y="21945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distance &amp; fare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0330" y="25603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3.5mi / $14.20 / 18min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31770" y="3017520"/>
            <a:ext cx="1588770" cy="13716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731770" y="3017520"/>
            <a:ext cx="744483" cy="137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40580" y="1097280"/>
            <a:ext cx="1954530" cy="2926080"/>
          </a:xfrm>
          <a:prstGeom prst="rect">
            <a:avLst>
              <a:gd name="adj" fmla="val 374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0580" y="1097280"/>
            <a:ext cx="195453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2020" y="128016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Distance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32020" y="16459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9.8%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32020" y="21945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&amp; outer borough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2020" y="25603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12.8mi / $42.50 / 35min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23460" y="3017520"/>
            <a:ext cx="1588770" cy="13716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29" name="Shape 27"/>
          <p:cNvSpPr/>
          <p:nvPr/>
        </p:nvSpPr>
        <p:spPr>
          <a:xfrm>
            <a:off x="4823460" y="3017520"/>
            <a:ext cx="264345" cy="137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Shape 28"/>
          <p:cNvSpPr/>
          <p:nvPr/>
        </p:nvSpPr>
        <p:spPr>
          <a:xfrm>
            <a:off x="6732270" y="1097280"/>
            <a:ext cx="1954530" cy="2926080"/>
          </a:xfrm>
          <a:prstGeom prst="rect">
            <a:avLst>
              <a:gd name="adj" fmla="val 3743"/>
            </a:avLst>
          </a:prstGeom>
          <a:solidFill>
            <a:srgbClr val="0F2035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32270" y="1097280"/>
            <a:ext cx="195453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6823710" y="128016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/ Surge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23710" y="1645920"/>
            <a:ext cx="17716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823710" y="219456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fare, peak hours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23710" y="2560320"/>
            <a:ext cx="1771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5.2mi / $38.90 / 22min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15150" y="3017520"/>
            <a:ext cx="1588770" cy="137160"/>
          </a:xfrm>
          <a:prstGeom prst="rect">
            <a:avLst/>
          </a:prstGeom>
          <a:solidFill>
            <a:srgbClr val="152A42"/>
          </a:solidFill>
          <a:ln/>
        </p:spPr>
      </p:sp>
      <p:sp>
        <p:nvSpPr>
          <p:cNvPr id="37" name="Shape 35"/>
          <p:cNvSpPr/>
          <p:nvPr/>
        </p:nvSpPr>
        <p:spPr>
          <a:xfrm>
            <a:off x="6915150" y="3017520"/>
            <a:ext cx="99804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(k=4) based on distance, fare, duration, and time-of-day features</a:t>
            </a:r>
            <a:endParaRPr lang="en-US" sz="10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114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823460"/>
            <a:ext cx="8229600" cy="914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405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188720"/>
            <a:ext cx="73152" cy="7315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05156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taxis served 107.8M trips in 2018, averaging 295K trips per 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1755648"/>
            <a:ext cx="73152" cy="7315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618488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dominates with 86.7% of pickups; all top 5 zones are in Manhattan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85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2322576"/>
            <a:ext cx="73152" cy="7315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185416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bimodal hourly pattern: PM peak (6PM) is 1.39x AM peak (8AM)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52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2889504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2752344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variation is moderate: March peak (9.95M) vs August low (8.22M)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19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" y="3456432"/>
            <a:ext cx="73152" cy="7315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319272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payments (67.2%) have become the dominant payment method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4023360"/>
            <a:ext cx="73152" cy="73152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388620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58.9% of trips are short economy rides (&lt;2mi), but long-distance trips drive 40%+ of revenue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Data Visualization Analysis | 2018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54864" cy="54864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4114800"/>
            <a:ext cx="54864" cy="54864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4114800"/>
            <a:ext cx="54864" cy="54864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4114800"/>
            <a:ext cx="54864" cy="5486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4114800"/>
            <a:ext cx="54864" cy="54864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4114800"/>
            <a:ext cx="54864" cy="54864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4114800"/>
            <a:ext cx="54864" cy="54864"/>
          </a:xfrm>
          <a:prstGeom prst="ellipse">
            <a:avLst/>
          </a:prstGeom>
          <a:solidFill>
            <a:srgbClr val="5A7A9A"/>
          </a:solidFill>
          <a:ln/>
        </p:spPr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York City Taxi Data Visualization Analysis</dc:title>
  <dc:subject>PptxGenJS Presentation</dc:subject>
  <dc:creator>NYC Taxi Data Analysis</dc:creator>
  <cp:lastModifiedBy>NYC Taxi Data Analysis</cp:lastModifiedBy>
  <cp:revision>1</cp:revision>
  <dcterms:created xsi:type="dcterms:W3CDTF">2026-05-15T18:28:00Z</dcterms:created>
  <dcterms:modified xsi:type="dcterms:W3CDTF">2026-05-15T18:28:00Z</dcterms:modified>
</cp:coreProperties>
</file>